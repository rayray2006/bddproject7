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ciencedirect.com/science/article/pii/S1361841524003748?via%3Dihub#sec5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iner.com/review/vista3d-unified-segmentation-foundation-model-for-3d-medical-imaging" TargetMode="External"/><Relationship Id="rId3" Type="http://schemas.openxmlformats.org/officeDocument/2006/relationships/hyperlink" Target="https://www.nature.com/articles/s41592-020-01008-z#Fig2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ature.com/articles/s41592-020-01008-z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6c22645ffdead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6c22645ffdead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1662d470ffd42a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1662d470ffd42a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nnu-net relies on trad unet architectures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nv-segmentct released nvidia,2024,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56c22645ffdeadc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56c22645ffdeadc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One ncCT and one ceCT Representative CT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1662d470ffd42a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1662d470ffd42a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56c22645ffdeadc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56c22645ffdeadc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6c22645ffdeadc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56c22645ffdead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raw axial CT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axial CT with representative organ masks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axial CT with complex multi-structure annotations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coronal view with overlapping/nested annotations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https://www.sciencedirect.com/science/article/pii/S1361841524003748?via%3Dihub#sec5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fc8744df7b7f73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fc8744df7b7f73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56c22645ffdeadc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56c22645ffdeadc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boxplot of normalized centroid-to-boundary distance by OAR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representative organ contours with low vs. high boundary complexity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6c22645ffdeadc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56c22645ffdeadc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fc8744df7b7f73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fc8744df7b7f73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n = 240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56c22645ffdeadcf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56c22645ffdeadcf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1662d470ffd42ac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1662d470ffd42ac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fc8744df7b7f7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fc8744df7b7f7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b91fbb0f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b91fbb0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What is the biomedical/data problem?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He, Yufan, et al. "VISTA3D: A unified segmentation foundation model for 3D medical imaging." 2025 IEEE/CVF Conference on Computer Vision and Pattern Recognition (CVPR). IEEE, 2025.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91fbb0f2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b91fbb0f2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b91fbb0f2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b91fbb0f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Luo, Xiangde, et al. "Segrap2023: A benchmark of organs-at-risk and gross tumor volume segmentation for radiotherapy planning of nasopharyngeal carcinoma." Medical image analysis 101 (2025): 103447.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b91fbb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b91fbb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https://liner.com/review/vista3d-unified-segmentation-foundation-model-for-3d-medical-imaging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https://www.nature.com/articles/s41592-020-01008-z#Fig2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He, Yufan, et al. "VISTA3D: A unified segmentation foundation model for 3D medical imaging." 2025 IEEE/CVF Conference on Computer Vision and Pattern Recognition (CVPR). IEEE, 2025.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becef59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becef59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check He et al., 2025 paper for VISTA3D and fine-tuning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bf189758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bf189758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b91fbb0f2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b91fbb0f2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bf189758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bf189758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bf189758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bf189758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becef595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becef595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91fbb0f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b91fbb0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Isensee et al., 2020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91fbb0f2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b91fbb0f2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91fbb0f2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b91fbb0f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91fbb0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b91fbb0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91fbb0f2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b91fbb0f2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b91fbb0f2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b91fbb0f2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b91fbb0f2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b91fbb0f2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800"/>
              <a:buFont typeface="Calibri"/>
              <a:buNone/>
              <a:defRPr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1614" t="0"/>
          <a:stretch/>
        </p:blipFill>
        <p:spPr>
          <a:xfrm>
            <a:off x="3311700" y="2741925"/>
            <a:ext cx="2806400" cy="28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1625" y="-1"/>
            <a:ext cx="3656575" cy="54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5">
            <a:alphaModFix/>
          </a:blip>
          <a:srcRect b="0" l="15981" r="0" t="0"/>
          <a:stretch/>
        </p:blipFill>
        <p:spPr>
          <a:xfrm>
            <a:off x="6439975" y="-165000"/>
            <a:ext cx="3138275" cy="56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ctrTitle"/>
          </p:nvPr>
        </p:nvSpPr>
        <p:spPr>
          <a:xfrm>
            <a:off x="131250" y="626475"/>
            <a:ext cx="8881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Exploratory Analysis of SegRap2023 for 3D CT Segmentation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39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Scan and Annotation Characteristics for Low-Label Training</a:t>
            </a:r>
            <a:endParaRPr sz="239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522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Adi, Arnav, Mina, Rayhan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Project Recap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Research Question: 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pretraining improve 3D CT segmentation performance when labeled training data are limited?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nnU-Net 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(train from scratch) vs.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NV-Segment-CT</a:t>
            </a: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(fine-tune foundation model)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488" y="2333348"/>
            <a:ext cx="6237024" cy="25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SegRap2023 Dataset Overview</a:t>
            </a:r>
            <a:endParaRPr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Why SegRap2023?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Its patient-level 3D CT scans and detailed anatomical annotations allow us to systematically reduce the amount of labeled training data while keeping evaluation consistent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 </a:t>
            </a:r>
            <a:r>
              <a:rPr lang="en"/>
              <a:t>+ 20 + 60 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patients (training, </a:t>
            </a:r>
            <a:r>
              <a:rPr lang="en"/>
              <a:t>validation, test)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 &amp; neck CT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ncCT + ceCT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3D patient-level volumes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Detailed anatomical labels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847" y="1923675"/>
            <a:ext cx="2808800" cy="30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SegRap2023 </a:t>
            </a:r>
            <a:r>
              <a:rPr lang="en"/>
              <a:t>Slices Vary Spatially</a:t>
            </a:r>
            <a:endParaRPr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Takeaway:</a:t>
            </a:r>
            <a:r>
              <a:rPr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Variation in scan dimensions and spatial resolution determines whether spatial standardization is needed before model training.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19314"/>
            <a:ext cx="3907974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4327" y="2023348"/>
            <a:ext cx="3907975" cy="2775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CT Intensity Distributions and Normalization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lang="en">
                <a:solidFill>
                  <a:srgbClr val="00FF00"/>
                </a:solidFill>
              </a:rPr>
              <a:t> </a:t>
            </a:r>
            <a:r>
              <a:rPr lang="en"/>
              <a:t>Comparing intensity distributions across scans and modalities will inform the intensity preprocessing used before training.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66100"/>
            <a:ext cx="4083200" cy="253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100" y="2168663"/>
            <a:ext cx="4083200" cy="252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Visualizing SegRap2023 Annotations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lang="en">
                <a:solidFill>
                  <a:srgbClr val="00FF00"/>
                </a:solidFill>
              </a:rPr>
              <a:t> </a:t>
            </a:r>
            <a:r>
              <a:rPr lang="en"/>
              <a:t>SegRap2023 includes labeled structures across individual 2D slices</a:t>
            </a:r>
            <a:endParaRPr/>
          </a:p>
        </p:txBody>
      </p:sp>
      <p:pic>
        <p:nvPicPr>
          <p:cNvPr id="96" name="Google Shape;96;p18" title="01_ct_axial_pl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03" y="1831875"/>
            <a:ext cx="2963299" cy="30951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2771633" y="4511203"/>
            <a:ext cx="7218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 Axial CT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250" y="1774150"/>
            <a:ext cx="3645747" cy="301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7898201" y="4434175"/>
            <a:ext cx="7800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Labeled</a:t>
            </a: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Axial CT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3627875" y="3396275"/>
            <a:ext cx="1059900" cy="2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627875" y="2676025"/>
            <a:ext cx="10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Individually annotated regions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SegRap2023 Annotations Include Complexity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lang="en">
                <a:solidFill>
                  <a:srgbClr val="00FF00"/>
                </a:solidFill>
              </a:rPr>
              <a:t> </a:t>
            </a:r>
            <a:r>
              <a:rPr lang="en"/>
              <a:t>SegRap2023 contains structures with substantially different spatial relationships, including nested and overlapping anatomical regions.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0" y="1931550"/>
            <a:ext cx="3710049" cy="299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800" y="1931550"/>
            <a:ext cx="3994904" cy="29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3124825" y="4441525"/>
            <a:ext cx="12204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Detailed Segmentation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675850" y="4441525"/>
            <a:ext cx="10995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Overlapping regions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Annotation Boundar</a:t>
            </a:r>
            <a:r>
              <a:rPr lang="en"/>
              <a:t>ies Vary Between Organs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396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lang="en">
                <a:solidFill>
                  <a:srgbClr val="00FF00"/>
                </a:solidFill>
              </a:rPr>
              <a:t> </a:t>
            </a:r>
            <a:r>
              <a:rPr lang="en"/>
              <a:t>Differences in boundary geometry provide an additional dimension of segmentation difficulty beyond structure size alone.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Evaluation implication:</a:t>
            </a:r>
            <a:r>
              <a:rPr lang="en"/>
              <a:t> motivates complementing overlap-based metrics with a boundary-sensitive metric.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900" y="3679350"/>
            <a:ext cx="2367925" cy="13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9199" y="1251551"/>
            <a:ext cx="4587876" cy="30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Annotation Characteristics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lang="en"/>
              <a:t> SegRap includes annotations on many different head neck and neck regions with metadata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11677" l="2591" r="2487" t="12936"/>
          <a:stretch/>
        </p:blipFill>
        <p:spPr>
          <a:xfrm>
            <a:off x="1176050" y="1936625"/>
            <a:ext cx="6791899" cy="30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SegRap Labeled Regions Have Size Differences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071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lang="en">
                <a:solidFill>
                  <a:srgbClr val="00FF00"/>
                </a:solidFill>
              </a:rPr>
              <a:t> </a:t>
            </a:r>
            <a:r>
              <a:rPr lang="en"/>
              <a:t>Large differences in structure size may cause segmentation performance to vary across anatomical structures.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0" l="0" r="0" t="13127"/>
          <a:stretch/>
        </p:blipFill>
        <p:spPr>
          <a:xfrm>
            <a:off x="1260888" y="1846729"/>
            <a:ext cx="6622227" cy="320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NV-Segment-CT validation of training labels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Takeaway:</a:t>
            </a:r>
            <a:r>
              <a:rPr b="1" lang="en"/>
              <a:t> </a:t>
            </a:r>
            <a:r>
              <a:rPr lang="en"/>
              <a:t>NV-Segment-CT allows for automatic segmentation of 127 classes, but only a subset may be applicable for predicting SegRap2023 labels</a:t>
            </a:r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25" y="2467405"/>
            <a:ext cx="3275376" cy="2015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4550" y="2020225"/>
            <a:ext cx="5535525" cy="26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Plan for Next Week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SegRap2023 EDA and finalize preprocessing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Finalize patient-level train/validation/test splits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5, 10, 20, 40, and 80-patient training subsets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up the nnU-Net baseline training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initial nnU-Net experiment on the 5-patient subset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Verify training, inference, and Dice evaluation pipeline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3">
            <a:alphaModFix/>
          </a:blip>
          <a:srcRect b="0" l="0" r="1614" t="0"/>
          <a:stretch/>
        </p:blipFill>
        <p:spPr>
          <a:xfrm>
            <a:off x="3311700" y="2741925"/>
            <a:ext cx="2806400" cy="28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1625" y="-1"/>
            <a:ext cx="3656575" cy="54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 rotWithShape="1">
          <a:blip r:embed="rId5">
            <a:alphaModFix/>
          </a:blip>
          <a:srcRect b="0" l="15981" r="0" t="0"/>
          <a:stretch/>
        </p:blipFill>
        <p:spPr>
          <a:xfrm>
            <a:off x="6439975" y="-165000"/>
            <a:ext cx="3138275" cy="56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>
            <p:ph type="ctrTitle"/>
          </p:nvPr>
        </p:nvSpPr>
        <p:spPr>
          <a:xfrm>
            <a:off x="311708" y="1072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 rotWithShape="1">
          <a:blip r:embed="rId3">
            <a:alphaModFix/>
          </a:blip>
          <a:srcRect b="0" l="0" r="1614" t="0"/>
          <a:stretch/>
        </p:blipFill>
        <p:spPr>
          <a:xfrm>
            <a:off x="3311700" y="2741925"/>
            <a:ext cx="2806400" cy="28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1625" y="-1"/>
            <a:ext cx="3656575" cy="54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 rotWithShape="1">
          <a:blip r:embed="rId5">
            <a:alphaModFix/>
          </a:blip>
          <a:srcRect b="0" l="15981" r="0" t="0"/>
          <a:stretch/>
        </p:blipFill>
        <p:spPr>
          <a:xfrm>
            <a:off x="6439975" y="-165000"/>
            <a:ext cx="3138275" cy="56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>
            <p:ph type="ctrTitle"/>
          </p:nvPr>
        </p:nvSpPr>
        <p:spPr>
          <a:xfrm>
            <a:off x="311708" y="6264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Foundation Models Help When Labels are Scarce?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Comparing nnU-Net and NV-Segment CT for 3D CT Segmentation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>
            <a:off x="311700" y="3522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Adi, Arnav, Mina, Rayhan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09/24/26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3D segmentation requires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voxel-level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labels, but expert annotation is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time-consuming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reduce annotation needs?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9528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123150" y="4703625"/>
            <a:ext cx="35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He, et al. 2025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7320700" y="105700"/>
            <a:ext cx="17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Biomedical Problem</a:t>
            </a:r>
            <a:endParaRPr sz="12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1286125" y="1026150"/>
            <a:ext cx="559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reduce annotation needs?</a:t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1286125" y="1827850"/>
            <a:ext cx="769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does pre-training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outperform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training from scratch?</a:t>
            </a:r>
            <a:endParaRPr sz="2400"/>
          </a:p>
        </p:txBody>
      </p:sp>
      <p:sp>
        <p:nvSpPr>
          <p:cNvPr id="181" name="Google Shape;181;p28"/>
          <p:cNvSpPr txBox="1"/>
          <p:nvPr/>
        </p:nvSpPr>
        <p:spPr>
          <a:xfrm>
            <a:off x="1286125" y="2677800"/>
            <a:ext cx="716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the advantage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as labels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increase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/>
          </a:p>
        </p:txBody>
      </p:sp>
      <p:sp>
        <p:nvSpPr>
          <p:cNvPr id="182" name="Google Shape;182;p28"/>
          <p:cNvSpPr txBox="1"/>
          <p:nvPr/>
        </p:nvSpPr>
        <p:spPr>
          <a:xfrm>
            <a:off x="1286125" y="3563250"/>
            <a:ext cx="64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the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distribution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available labels matter?</a:t>
            </a:r>
            <a:endParaRPr sz="2400"/>
          </a:p>
        </p:txBody>
      </p:sp>
      <p:sp>
        <p:nvSpPr>
          <p:cNvPr id="183" name="Google Shape;183;p28"/>
          <p:cNvSpPr txBox="1"/>
          <p:nvPr/>
        </p:nvSpPr>
        <p:spPr>
          <a:xfrm>
            <a:off x="123550" y="159250"/>
            <a:ext cx="17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12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502150" y="102615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502150" y="182785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502150" y="267780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502150" y="352775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SegRap2023 Dataset: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patients with CT scans,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labeled patients for training, </a:t>
            </a: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45 organ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expert labels (+ 2 tumor volumes)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SegRap2023 nasopharyngeal cancer CT dataset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200 total patients with paired CT scans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120 labeled training patients used for experiments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45 organs-at-risk + 2 tumor volumes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Target output: 3D anatomical segmentation masks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550" y="1296362"/>
            <a:ext cx="5747198" cy="289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1693825" y="3759625"/>
            <a:ext cx="356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Luo et al., 2025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7320700" y="105700"/>
            <a:ext cx="17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Dataset/Target Output</a:t>
            </a:r>
            <a:endParaRPr sz="12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3151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Target output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3D anatomical segmentation masks + labels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34571" l="1600" r="54322" t="6495"/>
          <a:stretch/>
        </p:blipFill>
        <p:spPr>
          <a:xfrm>
            <a:off x="5113875" y="2571757"/>
            <a:ext cx="2942988" cy="1945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 being compared:</a:t>
            </a:r>
            <a:endParaRPr sz="24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nnU-Net</a:t>
            </a:r>
            <a:endParaRPr b="1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Task-specific segmentation model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Trained from random initialization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Automatically configures the training pipeline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4730752" y="791275"/>
            <a:ext cx="4260300" cy="15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NV-Segment-CT</a:t>
            </a:r>
            <a:endParaRPr b="1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Pretrained 3D CT foundation model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Begins with learned anatomical representations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Fine-tuned using SegRap2023 labels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16" y="2571755"/>
            <a:ext cx="4069929" cy="19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7320700" y="105700"/>
            <a:ext cx="17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Target Output</a:t>
            </a:r>
            <a:endParaRPr sz="12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5113875" y="4606725"/>
            <a:ext cx="35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He, et al. 2025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364617" y="4606725"/>
            <a:ext cx="35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Isensee </a:t>
            </a: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 al., 2020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30"/>
          <p:cNvCxnSpPr/>
          <p:nvPr/>
        </p:nvCxnSpPr>
        <p:spPr>
          <a:xfrm>
            <a:off x="4596194" y="733275"/>
            <a:ext cx="7500" cy="42561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VISTA3D showed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stronger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performance on abdominal CT (WORD) with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fewer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cases, but this performance gap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narrowed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as labeled cases increased.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 rotWithShape="1">
          <a:blip r:embed="rId3">
            <a:alphaModFix/>
          </a:blip>
          <a:srcRect b="10161" l="0" r="46323" t="0"/>
          <a:stretch/>
        </p:blipFill>
        <p:spPr>
          <a:xfrm>
            <a:off x="668600" y="2913066"/>
            <a:ext cx="2636523" cy="200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600" y="526890"/>
            <a:ext cx="3393750" cy="19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 txBox="1"/>
          <p:nvPr/>
        </p:nvSpPr>
        <p:spPr>
          <a:xfrm>
            <a:off x="3436875" y="2913066"/>
            <a:ext cx="5000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SegRap2023 solutions were </a:t>
            </a:r>
            <a:r>
              <a:rPr b="1" lang="en" sz="18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largely nnU-Net-based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but </a:t>
            </a:r>
            <a:r>
              <a:rPr b="1" lang="en" sz="18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pretrained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universal models such as UniSeg were also competitive.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3436875" y="4580291"/>
            <a:ext cx="35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Luo et al., 2023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5081525" y="2432641"/>
            <a:ext cx="339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et al., 2025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7320700" y="105700"/>
            <a:ext cx="17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Previous Work</a:t>
            </a:r>
            <a:endParaRPr sz="12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31"/>
          <p:cNvCxnSpPr/>
          <p:nvPr/>
        </p:nvCxnSpPr>
        <p:spPr>
          <a:xfrm>
            <a:off x="362850" y="2766788"/>
            <a:ext cx="8504400" cy="303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/>
        </p:nvSpPr>
        <p:spPr>
          <a:xfrm>
            <a:off x="1089575" y="308000"/>
            <a:ext cx="5593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Data validity</a:t>
            </a: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Verify SegRap2023 was not used during pre-training of NV-Segment-CT</a:t>
            </a:r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305600" y="30800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1089575" y="1364150"/>
            <a:ext cx="5593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Model adaptation with fully labeled patients</a:t>
            </a:r>
            <a:endParaRPr/>
          </a:p>
        </p:txBody>
      </p:sp>
      <p:sp>
        <p:nvSpPr>
          <p:cNvPr id="233" name="Google Shape;233;p32"/>
          <p:cNvSpPr txBox="1"/>
          <p:nvPr/>
        </p:nvSpPr>
        <p:spPr>
          <a:xfrm>
            <a:off x="305600" y="136415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305600" y="3191400"/>
            <a:ext cx="643200" cy="554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1089575" y="3191400"/>
            <a:ext cx="5593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Model adaptation with partially labeled patients</a:t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2335900" y="1925250"/>
            <a:ext cx="661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Select 5, 10, 20, 40, or 80 patients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Keep all target structure labels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Train nnU-Net from scratch + Fine-tune NV-Segment-CT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Compare on the same fixed test set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2335900" y="3745500"/>
            <a:ext cx="6614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Control the overall annotation budget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Select number of patients and number of structure labels 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(e.g. 10 patients x 45 structures vs 90 patients x 5 structures)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During training, missing structures treated as unknown, not background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Compare with the fully labeled setting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7320700" y="83025"/>
            <a:ext cx="17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20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Compute Requirement</a:t>
            </a:r>
            <a:endParaRPr sz="242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Font typeface="Calibri"/>
              <a:buChar char="●"/>
            </a:pP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GPU cluster likely required</a:t>
            </a:r>
            <a:endParaRPr b="1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nnU-Net: ~16–32 GB GPU memory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Foundation-model fine-tuning: ~32–48+ GB useful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33"/>
          <p:cNvPicPr preferRelativeResize="0"/>
          <p:nvPr/>
        </p:nvPicPr>
        <p:blipFill rotWithShape="1">
          <a:blip r:embed="rId3">
            <a:alphaModFix/>
          </a:blip>
          <a:srcRect b="0" l="16785" r="0" t="0"/>
          <a:stretch/>
        </p:blipFill>
        <p:spPr>
          <a:xfrm>
            <a:off x="311700" y="1224025"/>
            <a:ext cx="4918551" cy="31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Expected Insights</a:t>
            </a:r>
            <a:endParaRPr sz="242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049" y="204100"/>
            <a:ext cx="5266950" cy="455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Determine when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provides the largest benefit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Determine whether labels are better spent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densely or sparsely</a:t>
            </a:r>
            <a:endParaRPr b="1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the most </a:t>
            </a:r>
            <a:r>
              <a:rPr b="1" lang="en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effective strategy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under limited annotation resources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0" l="0" r="1614" t="0"/>
          <a:stretch/>
        </p:blipFill>
        <p:spPr>
          <a:xfrm>
            <a:off x="3311700" y="2741925"/>
            <a:ext cx="2806400" cy="28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1625" y="-1"/>
            <a:ext cx="3656575" cy="54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5"/>
          <p:cNvPicPr preferRelativeResize="0"/>
          <p:nvPr/>
        </p:nvPicPr>
        <p:blipFill rotWithShape="1">
          <a:blip r:embed="rId5">
            <a:alphaModFix/>
          </a:blip>
          <a:srcRect b="0" l="15981" r="0" t="0"/>
          <a:stretch/>
        </p:blipFill>
        <p:spPr>
          <a:xfrm>
            <a:off x="6439975" y="-165000"/>
            <a:ext cx="3138275" cy="56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5"/>
          <p:cNvSpPr txBox="1"/>
          <p:nvPr>
            <p:ph type="ctrTitle"/>
          </p:nvPr>
        </p:nvSpPr>
        <p:spPr>
          <a:xfrm>
            <a:off x="311708" y="1072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First Questions We Will Investigate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validity: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confirm no SegRap2023 overlap with foundation-model pretraining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budget: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compare fully labeled patients vs. partially labeled patients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adaptation: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compare nnU-Net training from scratch with NV-Segment-CT fine-tuning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 strategy: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 partial vs. full fine-tuning across label budgets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Pre-training and Data Checks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Verify SegRap2023 was not used during pre-training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Check documented VISTA3D training datasets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No documented SegRap2023 overlap found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Identify SegRap structures represented in NV-Segment-CT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Map compatible labels between the two datasets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Experiment 1: Fully Labeled Patients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Select 5, 10, 20, 40, or 80 patients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Keep all target structure labels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Train nnU-Net from scratch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Fine-tune NV-Segment-CT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Compare on the same fixed test set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Experiment 2: Partial Labels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Use CT scans from a larger patient pool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Keep only selected structure labels per patient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Missing structures treated as unknown, not background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Control the overall annotation budget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Compare with the fully labeled setting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Overall Experimental Setup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Fixed training / validation / test split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Compare nnU-Net vs. NV-Segment-CT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Two label-scarcity settings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Fully labeled patients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Partially labeled patients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Label budgets: 5, 10, 20, 40, 80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Repeat sampling to measure variability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Compare two interpretations of label scarcity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First Questions to Investigate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Effect of label budget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Effect of label distribution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Partial vs. full fine-tuning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Foundation model vs. train-from-scratch baseline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Fine-Tuning NV-Segment-CT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Fine-Tuning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Freeze most pretrained layers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task-specific layers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risk of overfitting with few labels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Fine-Tuning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the entire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lower learning rate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across the same label budgets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Dice score — segmentation overlap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HD95 — boundary error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Variation across repeated patient samples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Modes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Missed structures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positives / boundary leakage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and inference time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